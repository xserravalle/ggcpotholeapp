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IMMEDIATE RELEASE:
Today, Georgia Gwinnett College students unveil GGC SansPotholes, an accessible civic tech mobile utility engineered to protect student vehicles, eliminate distracted driving, and automate municipal work orders.
As showcased on the live screencapture on the left, the app combines real physical mobile accelerometer telemetry, live GPS path breadcrumbs, and instant reverse-geocoding. Commuters simply mount their smartphone and drive; the app silently monitors roadway vibrations, filters axle bounce, and logs genuine shock spikes.
Upon reaching campus or home, drivers receive an instant Drive Summary and can dispatch certified, geocoded PDF work order dockets with embedded map screenshots directly to municipal repair crews.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to Slide 2 of our release, we detail the strategic pivot executed between our October 13 baseline (pholland10132026) and our current release (pholland10202026):
1. Data Integrity: We permanently eliminated all synthetic measurements, fake dials, and generic stock images. Every report now reflects empirical G-force readings and stitched canvas map screenshots.
2. Viewport &amp; Navigation: Instead of forcing drivers to manually find their location from a static GGC campus center, the app immediately defaults to their live physical GPS coordinates with a pulsing radar beacon, while Drive-Time Mapping is promoted to the primary navigation bar.
3. Hardware Bench: We resolved the waveform mounting bug, delivering a buttery-smooth 60fps oscilloscope that visualizes road shocks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highlights the ultimate value proposition of GGC SansPotholes across three constituencies:
First, for Commuters: It solves the safety paradox. Drivers no longer endanger themselves by pulling out phones in traffic. The app preserves vehicle health, saves students hundreds in repair bills, and promotes safer transit.
Second, for All Citizens: By grounding the system in Universal Design—Comic Sans MS for dyslexia, Okabe-Ito for colorblindness, and Southern voice audio synthesis—the app leaves no driver behind.
Third, for Municipalities: Public works departments receive certified, verifiable evidence rather than subjective complaints, accelerating repair cycles across Gwinnett County roadway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6747"/>
          </a:solidFill>
          <a:ln/>
        </p:spPr>
      </p:sp>
      <p:sp>
        <p:nvSpPr>
          <p:cNvPr id="3" name="Shape 1"/>
          <p:cNvSpPr/>
          <p:nvPr/>
        </p:nvSpPr>
        <p:spPr>
          <a:xfrm>
            <a:off x="0" y="91440"/>
            <a:ext cx="9144000" cy="36576"/>
          </a:xfrm>
          <a:prstGeom prst="rect">
            <a:avLst/>
          </a:prstGeom>
          <a:solidFill>
            <a:srgbClr val="C4A35A"/>
          </a:solidFill>
          <a:ln/>
        </p:spPr>
      </p:sp>
      <p:sp>
        <p:nvSpPr>
          <p:cNvPr id="4" name="Shape 2"/>
          <p:cNvSpPr/>
          <p:nvPr/>
        </p:nvSpPr>
        <p:spPr>
          <a:xfrm>
            <a:off x="548640" y="365760"/>
            <a:ext cx="2560320" cy="256032"/>
          </a:xfrm>
          <a:prstGeom prst="roundRect">
            <a:avLst>
              <a:gd name="adj" fmla="val 50000"/>
            </a:avLst>
          </a:prstGeom>
          <a:solidFill>
            <a:srgbClr val="1E293B"/>
          </a:solidFill>
          <a:ln w="12700">
            <a:solidFill>
              <a:srgbClr val="14B8A6"/>
            </a:solidFill>
            <a:prstDash val="solid"/>
          </a:ln>
        </p:spPr>
      </p:sp>
      <p:sp>
        <p:nvSpPr>
          <p:cNvPr id="5" name="Text 3"/>
          <p:cNvSpPr/>
          <p:nvPr/>
        </p:nvSpPr>
        <p:spPr>
          <a:xfrm>
            <a:off x="548640" y="365760"/>
            <a:ext cx="2560320" cy="256032"/>
          </a:xfrm>
          <a:prstGeom prst="rect">
            <a:avLst/>
          </a:prstGeom>
          <a:noFill/>
          <a:ln/>
        </p:spPr>
        <p:txBody>
          <a:bodyPr wrap="square" rtlCol="0" anchor="ctr"/>
          <a:lstStyle/>
          <a:p>
            <a:pPr algn="ctr" indent="0" marL="0">
              <a:buNone/>
            </a:pPr>
            <a:r>
              <a:rPr lang="en-US" sz="850" b="1" dirty="0">
                <a:solidFill>
                  <a:srgbClr val="14B8A6"/>
                </a:solidFill>
                <a:latin typeface="Comic Sans MS" pitchFamily="34" charset="0"/>
                <a:ea typeface="Comic Sans MS" pitchFamily="34" charset="-122"/>
                <a:cs typeface="Comic Sans MS" pitchFamily="34" charset="-120"/>
              </a:rPr>
              <a:t>OFFICIAL PRESS RELEASE • CIVIC TECH</a:t>
            </a:r>
            <a:endParaRPr lang="en-US" sz="850" dirty="0"/>
          </a:p>
        </p:txBody>
      </p:sp>
      <p:sp>
        <p:nvSpPr>
          <p:cNvPr id="6" name="Text 4"/>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GGC SansPotholes: Visualizing Gwinnett, Sans Potholes</a:t>
            </a:r>
            <a:endParaRPr lang="en-US" sz="1800" dirty="0"/>
          </a:p>
        </p:txBody>
      </p:sp>
      <p:sp>
        <p:nvSpPr>
          <p:cNvPr id="7" name="Text 5"/>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Georgia Gwinnett College senior capstone team debuts accessible, sensor-driven roadway hazard patrol.</a:t>
            </a:r>
            <a:endParaRPr lang="en-US" sz="1100" dirty="0"/>
          </a:p>
        </p:txBody>
      </p:sp>
      <p:sp>
        <p:nvSpPr>
          <p:cNvPr id="8" name="Shape 6"/>
          <p:cNvSpPr/>
          <p:nvPr/>
        </p:nvSpPr>
        <p:spPr>
          <a:xfrm>
            <a:off x="548640" y="1417320"/>
            <a:ext cx="4389120" cy="3154680"/>
          </a:xfrm>
          <a:prstGeom prst="roundRect">
            <a:avLst>
              <a:gd name="adj" fmla="val 4058"/>
            </a:avLst>
          </a:prstGeom>
          <a:solidFill>
            <a:srgbClr val="111928"/>
          </a:solidFill>
          <a:ln w="19050">
            <a:solidFill>
              <a:srgbClr val="10B981"/>
            </a:solidFill>
            <a:prstDash val="solid"/>
          </a:ln>
        </p:spPr>
      </p:sp>
      <p:sp>
        <p:nvSpPr>
          <p:cNvPr id="9" name="Shape 7"/>
          <p:cNvSpPr/>
          <p:nvPr/>
        </p:nvSpPr>
        <p:spPr>
          <a:xfrm>
            <a:off x="557784" y="1426464"/>
            <a:ext cx="4370832" cy="219456"/>
          </a:xfrm>
          <a:prstGeom prst="rect">
            <a:avLst/>
          </a:prstGeom>
          <a:solidFill>
            <a:srgbClr val="1E293B"/>
          </a:solidFill>
          <a:ln/>
        </p:spPr>
      </p:sp>
      <p:sp>
        <p:nvSpPr>
          <p:cNvPr id="10" name="Text 8"/>
          <p:cNvSpPr/>
          <p:nvPr/>
        </p:nvSpPr>
        <p:spPr>
          <a:xfrm>
            <a:off x="640080" y="1426464"/>
            <a:ext cx="4206240" cy="219456"/>
          </a:xfrm>
          <a:prstGeom prst="rect">
            <a:avLst/>
          </a:prstGeom>
          <a:noFill/>
          <a:ln/>
        </p:spPr>
        <p:txBody>
          <a:bodyPr wrap="square" rtlCol="0" anchor="ctr"/>
          <a:lstStyle/>
          <a:p>
            <a:pPr indent="0" marL="0">
              <a:buNone/>
            </a:pPr>
            <a:r>
              <a:rPr lang="en-US" sz="750" dirty="0">
                <a:solidFill>
                  <a:srgbClr val="94A3B8"/>
                </a:solidFill>
                <a:latin typeface="Comic Sans MS" pitchFamily="34" charset="0"/>
                <a:ea typeface="Comic Sans MS" pitchFamily="34" charset="-122"/>
                <a:cs typeface="Comic Sans MS" pitchFamily="34" charset="-120"/>
              </a:rPr>
              <a:t>🔴 🟡 🟢  ggc-sanspotholes.app • Live Active Interface</a:t>
            </a:r>
            <a:endParaRPr lang="en-US" sz="750" dirty="0"/>
          </a:p>
        </p:txBody>
      </p:sp>
      <p:pic>
        <p:nvPicPr>
          <p:cNvPr id="11" name="Image 0" descr="C:/Users/peyto/.gemini/antigravity/scratch/ggc-pothole-patrol/live_screencapture.png">    </p:cNvPr>
          <p:cNvPicPr>
            <a:picLocks noChangeAspect="1"/>
          </p:cNvPicPr>
          <p:nvPr/>
        </p:nvPicPr>
        <p:blipFill>
          <a:blip r:embed="rId1"/>
          <a:stretch>
            <a:fillRect/>
          </a:stretch>
        </p:blipFill>
        <p:spPr>
          <a:xfrm>
            <a:off x="585216" y="1664208"/>
            <a:ext cx="4315968" cy="2852928"/>
          </a:xfrm>
          <a:prstGeom prst="rect">
            <a:avLst/>
          </a:prstGeom>
        </p:spPr>
      </p:pic>
      <p:sp>
        <p:nvSpPr>
          <p:cNvPr id="12" name="Shape 9"/>
          <p:cNvSpPr/>
          <p:nvPr/>
        </p:nvSpPr>
        <p:spPr>
          <a:xfrm>
            <a:off x="685800" y="4187952"/>
            <a:ext cx="4114800" cy="292608"/>
          </a:xfrm>
          <a:prstGeom prst="roundRect">
            <a:avLst>
              <a:gd name="adj" fmla="val 25000"/>
            </a:avLst>
          </a:prstGeom>
          <a:solidFill>
            <a:srgbClr val="0A1120"/>
          </a:solidFill>
          <a:ln w="10160">
            <a:solidFill>
              <a:srgbClr val="14B8A6"/>
            </a:solidFill>
            <a:prstDash val="solid"/>
          </a:ln>
        </p:spPr>
      </p:sp>
      <p:sp>
        <p:nvSpPr>
          <p:cNvPr id="13" name="Text 10"/>
          <p:cNvSpPr/>
          <p:nvPr/>
        </p:nvSpPr>
        <p:spPr>
          <a:xfrm>
            <a:off x="685800" y="4187952"/>
            <a:ext cx="4114800" cy="292608"/>
          </a:xfrm>
          <a:prstGeom prst="rect">
            <a:avLst/>
          </a:prstGeom>
          <a:noFill/>
          <a:ln/>
        </p:spPr>
        <p:txBody>
          <a:bodyPr wrap="square" rtlCol="0" anchor="ctr"/>
          <a:lstStyle/>
          <a:p>
            <a:pPr algn="ctr" indent="0" marL="0">
              <a:buNone/>
            </a:pPr>
            <a:r>
              <a:rPr lang="en-US" sz="750" b="1" dirty="0">
                <a:solidFill>
                  <a:srgbClr val="10B981"/>
                </a:solidFill>
                <a:latin typeface="Comic Sans MS" pitchFamily="34" charset="0"/>
                <a:ea typeface="Comic Sans MS" pitchFamily="34" charset="-122"/>
                <a:cs typeface="Comic Sans MS" pitchFamily="34" charset="-120"/>
              </a:rPr>
              <a:t>📸 ACTIVE SCREENCAPTURE: Live Physical GPS Centering &amp; Predominant Drive-Time Nav</a:t>
            </a:r>
            <a:endParaRPr lang="en-US" sz="750" dirty="0"/>
          </a:p>
        </p:txBody>
      </p:sp>
      <p:sp>
        <p:nvSpPr>
          <p:cNvPr id="14" name="Shape 11"/>
          <p:cNvSpPr/>
          <p:nvPr/>
        </p:nvSpPr>
        <p:spPr>
          <a:xfrm>
            <a:off x="5120640" y="1417320"/>
            <a:ext cx="3474720" cy="1508760"/>
          </a:xfrm>
          <a:prstGeom prst="roundRect">
            <a:avLst>
              <a:gd name="adj" fmla="val 7273"/>
            </a:avLst>
          </a:prstGeom>
          <a:solidFill>
            <a:srgbClr val="141E33"/>
          </a:solidFill>
          <a:ln w="12700">
            <a:solidFill>
              <a:srgbClr val="233352"/>
            </a:solidFill>
            <a:prstDash val="solid"/>
          </a:ln>
        </p:spPr>
      </p:sp>
      <p:sp>
        <p:nvSpPr>
          <p:cNvPr id="15" name="Shape 12"/>
          <p:cNvSpPr/>
          <p:nvPr/>
        </p:nvSpPr>
        <p:spPr>
          <a:xfrm>
            <a:off x="5166360" y="1463040"/>
            <a:ext cx="3383280" cy="54864"/>
          </a:xfrm>
          <a:prstGeom prst="roundRect">
            <a:avLst>
              <a:gd name="adj" fmla="val 50000"/>
            </a:avLst>
          </a:prstGeom>
          <a:solidFill>
            <a:srgbClr val="10B981"/>
          </a:solidFill>
          <a:ln/>
        </p:spPr>
      </p:sp>
      <p:sp>
        <p:nvSpPr>
          <p:cNvPr id="16" name="Shape 13"/>
          <p:cNvSpPr/>
          <p:nvPr/>
        </p:nvSpPr>
        <p:spPr>
          <a:xfrm>
            <a:off x="5285232" y="1581912"/>
            <a:ext cx="1645920" cy="201168"/>
          </a:xfrm>
          <a:prstGeom prst="roundRect">
            <a:avLst>
              <a:gd name="adj" fmla="val 36364"/>
            </a:avLst>
          </a:prstGeom>
          <a:solidFill>
            <a:srgbClr val="0F172A"/>
          </a:solidFill>
          <a:ln w="10160">
            <a:solidFill>
              <a:srgbClr val="10B981"/>
            </a:solidFill>
            <a:prstDash val="solid"/>
          </a:ln>
        </p:spPr>
      </p:sp>
      <p:sp>
        <p:nvSpPr>
          <p:cNvPr id="17" name="Text 14"/>
          <p:cNvSpPr/>
          <p:nvPr/>
        </p:nvSpPr>
        <p:spPr>
          <a:xfrm>
            <a:off x="5285232" y="1581912"/>
            <a:ext cx="1645920" cy="201168"/>
          </a:xfrm>
          <a:prstGeom prst="rect">
            <a:avLst/>
          </a:prstGeom>
          <a:noFill/>
          <a:ln/>
        </p:spPr>
        <p:txBody>
          <a:bodyPr wrap="square" rtlCol="0" anchor="ctr"/>
          <a:lstStyle/>
          <a:p>
            <a:pPr algn="ctr" indent="0" marL="0">
              <a:buNone/>
            </a:pPr>
            <a:r>
              <a:rPr lang="en-US" sz="750" b="1" dirty="0">
                <a:solidFill>
                  <a:srgbClr val="10B981"/>
                </a:solidFill>
                <a:latin typeface="Comic Sans MS" pitchFamily="34" charset="0"/>
                <a:ea typeface="Comic Sans MS" pitchFamily="34" charset="-122"/>
                <a:cs typeface="Comic Sans MS" pitchFamily="34" charset="-120"/>
              </a:rPr>
              <a:t>CIVIC INNOVATION</a:t>
            </a:r>
            <a:endParaRPr lang="en-US" sz="750" dirty="0"/>
          </a:p>
        </p:txBody>
      </p:sp>
      <p:sp>
        <p:nvSpPr>
          <p:cNvPr id="18" name="Text 15"/>
          <p:cNvSpPr/>
          <p:nvPr/>
        </p:nvSpPr>
        <p:spPr>
          <a:xfrm>
            <a:off x="5285232" y="1837944"/>
            <a:ext cx="31455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What GGC SansPotholes Does</a:t>
            </a:r>
            <a:endParaRPr lang="en-US" sz="1150" dirty="0"/>
          </a:p>
        </p:txBody>
      </p:sp>
      <p:sp>
        <p:nvSpPr>
          <p:cNvPr id="19" name="Text 16"/>
          <p:cNvSpPr/>
          <p:nvPr/>
        </p:nvSpPr>
        <p:spPr>
          <a:xfrm>
            <a:off x="5285232" y="2130552"/>
            <a:ext cx="31455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Hands-free sensor patrol for commuter safety</a:t>
            </a:r>
            <a:endParaRPr lang="en-US" sz="900" dirty="0"/>
          </a:p>
        </p:txBody>
      </p:sp>
      <p:sp>
        <p:nvSpPr>
          <p:cNvPr id="20" name="Text 17"/>
          <p:cNvSpPr/>
          <p:nvPr/>
        </p:nvSpPr>
        <p:spPr>
          <a:xfrm>
            <a:off x="5285232" y="2386584"/>
            <a:ext cx="3145536" cy="402336"/>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Eliminates Distracted Driving: Mount phone &amp; start patrol—silently monitors road vibrations and logs shock spikes.</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Physical Telemetry: Uses device accelerometer (DeviceMotionEvent) measuring real G-forces (e.g. 7.80G to 8.80G).</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Reverse Geocoded Mapping: Traces GPS route breadcrumbs and auto-resolves nearest street addresses.</a:t>
            </a:r>
            <a:endParaRPr lang="en-US" sz="850" dirty="0"/>
          </a:p>
        </p:txBody>
      </p:sp>
      <p:sp>
        <p:nvSpPr>
          <p:cNvPr id="21" name="Shape 18"/>
          <p:cNvSpPr/>
          <p:nvPr/>
        </p:nvSpPr>
        <p:spPr>
          <a:xfrm>
            <a:off x="5120640" y="3035808"/>
            <a:ext cx="3474720" cy="1536192"/>
          </a:xfrm>
          <a:prstGeom prst="roundRect">
            <a:avLst>
              <a:gd name="adj" fmla="val 7143"/>
            </a:avLst>
          </a:prstGeom>
          <a:solidFill>
            <a:srgbClr val="141E33"/>
          </a:solidFill>
          <a:ln w="12700">
            <a:solidFill>
              <a:srgbClr val="233352"/>
            </a:solidFill>
            <a:prstDash val="solid"/>
          </a:ln>
        </p:spPr>
      </p:sp>
      <p:sp>
        <p:nvSpPr>
          <p:cNvPr id="22" name="Shape 19"/>
          <p:cNvSpPr/>
          <p:nvPr/>
        </p:nvSpPr>
        <p:spPr>
          <a:xfrm>
            <a:off x="5166360" y="3081528"/>
            <a:ext cx="3383280" cy="54864"/>
          </a:xfrm>
          <a:prstGeom prst="roundRect">
            <a:avLst>
              <a:gd name="adj" fmla="val 50000"/>
            </a:avLst>
          </a:prstGeom>
          <a:solidFill>
            <a:srgbClr val="C4A35A"/>
          </a:solidFill>
          <a:ln/>
        </p:spPr>
      </p:sp>
      <p:sp>
        <p:nvSpPr>
          <p:cNvPr id="23" name="Shape 20"/>
          <p:cNvSpPr/>
          <p:nvPr/>
        </p:nvSpPr>
        <p:spPr>
          <a:xfrm>
            <a:off x="5285232" y="3200400"/>
            <a:ext cx="1645920" cy="201168"/>
          </a:xfrm>
          <a:prstGeom prst="roundRect">
            <a:avLst>
              <a:gd name="adj" fmla="val 36364"/>
            </a:avLst>
          </a:prstGeom>
          <a:solidFill>
            <a:srgbClr val="0F172A"/>
          </a:solidFill>
          <a:ln w="10160">
            <a:solidFill>
              <a:srgbClr val="C4A35A"/>
            </a:solidFill>
            <a:prstDash val="solid"/>
          </a:ln>
        </p:spPr>
      </p:sp>
      <p:sp>
        <p:nvSpPr>
          <p:cNvPr id="24" name="Text 21"/>
          <p:cNvSpPr/>
          <p:nvPr/>
        </p:nvSpPr>
        <p:spPr>
          <a:xfrm>
            <a:off x="5285232" y="3200400"/>
            <a:ext cx="1645920" cy="201168"/>
          </a:xfrm>
          <a:prstGeom prst="rect">
            <a:avLst/>
          </a:prstGeom>
          <a:noFill/>
          <a:ln/>
        </p:spPr>
        <p:txBody>
          <a:bodyPr wrap="square" rtlCol="0" anchor="ctr"/>
          <a:lstStyle/>
          <a:p>
            <a:pPr algn="ctr" indent="0" marL="0">
              <a:buNone/>
            </a:pPr>
            <a:r>
              <a:rPr lang="en-US" sz="750" b="1" dirty="0">
                <a:solidFill>
                  <a:srgbClr val="C4A35A"/>
                </a:solidFill>
                <a:latin typeface="Comic Sans MS" pitchFamily="34" charset="0"/>
                <a:ea typeface="Comic Sans MS" pitchFamily="34" charset="-122"/>
                <a:cs typeface="Comic Sans MS" pitchFamily="34" charset="-120"/>
              </a:rPr>
              <a:t>MUNICIPAL READINESS</a:t>
            </a:r>
            <a:endParaRPr lang="en-US" sz="750" dirty="0"/>
          </a:p>
        </p:txBody>
      </p:sp>
      <p:sp>
        <p:nvSpPr>
          <p:cNvPr id="25" name="Text 22"/>
          <p:cNvSpPr/>
          <p:nvPr/>
        </p:nvSpPr>
        <p:spPr>
          <a:xfrm>
            <a:off x="5285232" y="3456432"/>
            <a:ext cx="31455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Turnkey Public Works Dockets</a:t>
            </a:r>
            <a:endParaRPr lang="en-US" sz="1150" dirty="0"/>
          </a:p>
        </p:txBody>
      </p:sp>
      <p:sp>
        <p:nvSpPr>
          <p:cNvPr id="26" name="Text 23"/>
          <p:cNvSpPr/>
          <p:nvPr/>
        </p:nvSpPr>
        <p:spPr>
          <a:xfrm>
            <a:off x="5285232" y="3749040"/>
            <a:ext cx="31455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Automated civic dispatch to city engineers</a:t>
            </a:r>
            <a:endParaRPr lang="en-US" sz="900" dirty="0"/>
          </a:p>
        </p:txBody>
      </p:sp>
      <p:sp>
        <p:nvSpPr>
          <p:cNvPr id="27" name="Text 24"/>
          <p:cNvSpPr/>
          <p:nvPr/>
        </p:nvSpPr>
        <p:spPr>
          <a:xfrm>
            <a:off x="5285232" y="4005072"/>
            <a:ext cx="3145536" cy="429768"/>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End-of-Drive Readout: Immediate summary of trip mileage, duration, and detected shock incident ledger.</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1-Click Batch Promotion: Converts sensor detections into confirmed public road hazard dockets.</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Certified PDF Work Orders: Exports single-page municipal dockets featuring verified canvas map screenshots.</a:t>
            </a:r>
            <a:endParaRPr lang="en-US" sz="850" dirty="0"/>
          </a:p>
        </p:txBody>
      </p:sp>
      <p:sp>
        <p:nvSpPr>
          <p:cNvPr id="28" name="Shape 25"/>
          <p:cNvSpPr/>
          <p:nvPr/>
        </p:nvSpPr>
        <p:spPr>
          <a:xfrm>
            <a:off x="548640" y="4709160"/>
            <a:ext cx="8046720" cy="0"/>
          </a:xfrm>
          <a:prstGeom prst="line">
            <a:avLst/>
          </a:prstGeom>
          <a:noFill/>
          <a:ln w="10160">
            <a:solidFill>
              <a:srgbClr val="1E293B"/>
            </a:solidFill>
            <a:prstDash val="solid"/>
          </a:ln>
        </p:spPr>
      </p:sp>
      <p:sp>
        <p:nvSpPr>
          <p:cNvPr id="29" name="Text 26"/>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Official Civic Press Release • Senior Capstone ITEC 4860</a:t>
            </a:r>
            <a:endParaRPr lang="en-US" sz="800" dirty="0"/>
          </a:p>
        </p:txBody>
      </p:sp>
      <p:sp>
        <p:nvSpPr>
          <p:cNvPr id="30" name="Text 27"/>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C4A35A"/>
                </a:solidFill>
                <a:latin typeface="Comic Sans MS" pitchFamily="34" charset="0"/>
                <a:ea typeface="Comic Sans MS" pitchFamily="34" charset="-122"/>
                <a:cs typeface="Comic Sans MS" pitchFamily="34" charset="-120"/>
              </a:rPr>
              <a:t>Slide 1 of 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6747"/>
          </a:solidFill>
          <a:ln/>
        </p:spPr>
      </p:sp>
      <p:sp>
        <p:nvSpPr>
          <p:cNvPr id="3" name="Shape 1"/>
          <p:cNvSpPr/>
          <p:nvPr/>
        </p:nvSpPr>
        <p:spPr>
          <a:xfrm>
            <a:off x="0" y="91440"/>
            <a:ext cx="9144000" cy="36576"/>
          </a:xfrm>
          <a:prstGeom prst="rect">
            <a:avLst/>
          </a:prstGeom>
          <a:solidFill>
            <a:srgbClr val="C4A35A"/>
          </a:solidFill>
          <a:ln/>
        </p:spPr>
      </p:sp>
      <p:sp>
        <p:nvSpPr>
          <p:cNvPr id="4" name="Shape 2"/>
          <p:cNvSpPr/>
          <p:nvPr/>
        </p:nvSpPr>
        <p:spPr>
          <a:xfrm>
            <a:off x="548640" y="365760"/>
            <a:ext cx="2560320" cy="256032"/>
          </a:xfrm>
          <a:prstGeom prst="roundRect">
            <a:avLst>
              <a:gd name="adj" fmla="val 50000"/>
            </a:avLst>
          </a:prstGeom>
          <a:solidFill>
            <a:srgbClr val="1E293B"/>
          </a:solidFill>
          <a:ln w="12700">
            <a:solidFill>
              <a:srgbClr val="14B8A6"/>
            </a:solidFill>
            <a:prstDash val="solid"/>
          </a:ln>
        </p:spPr>
      </p:sp>
      <p:sp>
        <p:nvSpPr>
          <p:cNvPr id="5" name="Text 3"/>
          <p:cNvSpPr/>
          <p:nvPr/>
        </p:nvSpPr>
        <p:spPr>
          <a:xfrm>
            <a:off x="548640" y="365760"/>
            <a:ext cx="2560320" cy="256032"/>
          </a:xfrm>
          <a:prstGeom prst="rect">
            <a:avLst/>
          </a:prstGeom>
          <a:noFill/>
          <a:ln/>
        </p:spPr>
        <p:txBody>
          <a:bodyPr wrap="square" rtlCol="0" anchor="ctr"/>
          <a:lstStyle/>
          <a:p>
            <a:pPr algn="ctr" indent="0" marL="0">
              <a:buNone/>
            </a:pPr>
            <a:r>
              <a:rPr lang="en-US" sz="850" b="1" dirty="0">
                <a:solidFill>
                  <a:srgbClr val="14B8A6"/>
                </a:solidFill>
                <a:latin typeface="Comic Sans MS" pitchFamily="34" charset="0"/>
                <a:ea typeface="Comic Sans MS" pitchFamily="34" charset="-122"/>
                <a:cs typeface="Comic Sans MS" pitchFamily="34" charset="-120"/>
              </a:rPr>
              <a:t>ARCHITECTURE &amp; AESTHETIC TRANSFORMATION</a:t>
            </a:r>
            <a:endParaRPr lang="en-US" sz="850" dirty="0"/>
          </a:p>
        </p:txBody>
      </p:sp>
      <p:sp>
        <p:nvSpPr>
          <p:cNvPr id="6" name="Text 4"/>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Evolution: From Baseline 10132026 to Modern 10202026</a:t>
            </a:r>
            <a:endParaRPr lang="en-US" sz="1800" dirty="0"/>
          </a:p>
        </p:txBody>
      </p:sp>
      <p:sp>
        <p:nvSpPr>
          <p:cNvPr id="7" name="Text 5"/>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How we eliminated synthetic clutter, anchored to live physical GPS, and restored live telemetry.</a:t>
            </a:r>
            <a:endParaRPr lang="en-US" sz="1100" dirty="0"/>
          </a:p>
        </p:txBody>
      </p:sp>
      <p:sp>
        <p:nvSpPr>
          <p:cNvPr id="8" name="Shape 6"/>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9" name="Shape 7"/>
          <p:cNvSpPr/>
          <p:nvPr/>
        </p:nvSpPr>
        <p:spPr>
          <a:xfrm>
            <a:off x="594360" y="1508760"/>
            <a:ext cx="2468880" cy="54864"/>
          </a:xfrm>
          <a:prstGeom prst="roundRect">
            <a:avLst>
              <a:gd name="adj" fmla="val 50000"/>
            </a:avLst>
          </a:prstGeom>
          <a:solidFill>
            <a:srgbClr val="10B981"/>
          </a:solidFill>
          <a:ln/>
        </p:spPr>
      </p:sp>
      <p:sp>
        <p:nvSpPr>
          <p:cNvPr id="10" name="Shape 8"/>
          <p:cNvSpPr/>
          <p:nvPr/>
        </p:nvSpPr>
        <p:spPr>
          <a:xfrm>
            <a:off x="713232" y="1627632"/>
            <a:ext cx="1645920" cy="201168"/>
          </a:xfrm>
          <a:prstGeom prst="roundRect">
            <a:avLst>
              <a:gd name="adj" fmla="val 36364"/>
            </a:avLst>
          </a:prstGeom>
          <a:solidFill>
            <a:srgbClr val="0F172A"/>
          </a:solidFill>
          <a:ln w="10160">
            <a:solidFill>
              <a:srgbClr val="10B981"/>
            </a:solidFill>
            <a:prstDash val="solid"/>
          </a:ln>
        </p:spPr>
      </p:sp>
      <p:sp>
        <p:nvSpPr>
          <p:cNvPr id="11" name="Text 9"/>
          <p:cNvSpPr/>
          <p:nvPr/>
        </p:nvSpPr>
        <p:spPr>
          <a:xfrm>
            <a:off x="713232" y="1627632"/>
            <a:ext cx="1645920" cy="201168"/>
          </a:xfrm>
          <a:prstGeom prst="rect">
            <a:avLst/>
          </a:prstGeom>
          <a:noFill/>
          <a:ln/>
        </p:spPr>
        <p:txBody>
          <a:bodyPr wrap="square" rtlCol="0" anchor="ctr"/>
          <a:lstStyle/>
          <a:p>
            <a:pPr algn="ctr" indent="0" marL="0">
              <a:buNone/>
            </a:pPr>
            <a:r>
              <a:rPr lang="en-US" sz="750" b="1" dirty="0">
                <a:solidFill>
                  <a:srgbClr val="10B981"/>
                </a:solidFill>
                <a:latin typeface="Comic Sans MS" pitchFamily="34" charset="0"/>
                <a:ea typeface="Comic Sans MS" pitchFamily="34" charset="-122"/>
                <a:cs typeface="Comic Sans MS" pitchFamily="34" charset="-120"/>
              </a:rPr>
              <a:t>EMPIRICAL PIVOT</a:t>
            </a:r>
            <a:endParaRPr lang="en-US" sz="750" dirty="0"/>
          </a:p>
        </p:txBody>
      </p:sp>
      <p:sp>
        <p:nvSpPr>
          <p:cNvPr id="12" name="Text 10"/>
          <p:cNvSpPr/>
          <p:nvPr/>
        </p:nvSpPr>
        <p:spPr>
          <a:xfrm>
            <a:off x="713232" y="1883664"/>
            <a:ext cx="22311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Synthetic Purge ➔ Real Physics</a:t>
            </a:r>
            <a:endParaRPr lang="en-US" sz="1150" dirty="0"/>
          </a:p>
        </p:txBody>
      </p:sp>
      <p:sp>
        <p:nvSpPr>
          <p:cNvPr id="13" name="Text 11"/>
          <p:cNvSpPr/>
          <p:nvPr/>
        </p:nvSpPr>
        <p:spPr>
          <a:xfrm>
            <a:off x="713232" y="2176272"/>
            <a:ext cx="22311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100% empirical evidence model</a:t>
            </a:r>
            <a:endParaRPr lang="en-US" sz="900" dirty="0"/>
          </a:p>
        </p:txBody>
      </p:sp>
      <p:sp>
        <p:nvSpPr>
          <p:cNvPr id="14" name="Text 12"/>
          <p:cNvSpPr/>
          <p:nvPr/>
        </p:nvSpPr>
        <p:spPr>
          <a:xfrm>
            <a:off x="713232" y="2432304"/>
            <a:ext cx="2231136" cy="1956816"/>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Purged Synthetic Placeholders: Permanently retired fake road depth dials (3.5 in), cavity diameters, and placeholder stock photos.</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Real Hardware Sensor Telemetry: Wired DeviceMotionEvent to capture actual vehicular impact shocks against 3.0G threshold.</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Geospatial Map Snapshots: Automated HTML5 canvas tile-stitcher captures certified location screenshots embedded in reports.</a:t>
            </a:r>
            <a:endParaRPr lang="en-US" sz="850" dirty="0"/>
          </a:p>
        </p:txBody>
      </p:sp>
      <p:sp>
        <p:nvSpPr>
          <p:cNvPr id="15" name="Shape 13"/>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6" name="Shape 14"/>
          <p:cNvSpPr/>
          <p:nvPr/>
        </p:nvSpPr>
        <p:spPr>
          <a:xfrm>
            <a:off x="3337560" y="1508760"/>
            <a:ext cx="2468880" cy="54864"/>
          </a:xfrm>
          <a:prstGeom prst="roundRect">
            <a:avLst>
              <a:gd name="adj" fmla="val 50000"/>
            </a:avLst>
          </a:prstGeom>
          <a:solidFill>
            <a:srgbClr val="3B82F6"/>
          </a:solidFill>
          <a:ln/>
        </p:spPr>
      </p:sp>
      <p:sp>
        <p:nvSpPr>
          <p:cNvPr id="17" name="Shape 15"/>
          <p:cNvSpPr/>
          <p:nvPr/>
        </p:nvSpPr>
        <p:spPr>
          <a:xfrm>
            <a:off x="3456432" y="1627632"/>
            <a:ext cx="1645920" cy="201168"/>
          </a:xfrm>
          <a:prstGeom prst="roundRect">
            <a:avLst>
              <a:gd name="adj" fmla="val 36364"/>
            </a:avLst>
          </a:prstGeom>
          <a:solidFill>
            <a:srgbClr val="0F172A"/>
          </a:solidFill>
          <a:ln w="10160">
            <a:solidFill>
              <a:srgbClr val="3B82F6"/>
            </a:solidFill>
            <a:prstDash val="solid"/>
          </a:ln>
        </p:spPr>
      </p:sp>
      <p:sp>
        <p:nvSpPr>
          <p:cNvPr id="18" name="Text 16"/>
          <p:cNvSpPr/>
          <p:nvPr/>
        </p:nvSpPr>
        <p:spPr>
          <a:xfrm>
            <a:off x="3456432" y="1627632"/>
            <a:ext cx="1645920" cy="201168"/>
          </a:xfrm>
          <a:prstGeom prst="rect">
            <a:avLst/>
          </a:prstGeom>
          <a:noFill/>
          <a:ln/>
        </p:spPr>
        <p:txBody>
          <a:bodyPr wrap="square" rtlCol="0" anchor="ctr"/>
          <a:lstStyle/>
          <a:p>
            <a:pPr algn="ctr" indent="0" marL="0">
              <a:buNone/>
            </a:pPr>
            <a:r>
              <a:rPr lang="en-US" sz="750" b="1" dirty="0">
                <a:solidFill>
                  <a:srgbClr val="3B82F6"/>
                </a:solidFill>
                <a:latin typeface="Comic Sans MS" pitchFamily="34" charset="0"/>
                <a:ea typeface="Comic Sans MS" pitchFamily="34" charset="-122"/>
                <a:cs typeface="Comic Sans MS" pitchFamily="34" charset="-120"/>
              </a:rPr>
              <a:t>ERGONOMIC REDESIGN</a:t>
            </a:r>
            <a:endParaRPr lang="en-US" sz="750" dirty="0"/>
          </a:p>
        </p:txBody>
      </p:sp>
      <p:sp>
        <p:nvSpPr>
          <p:cNvPr id="19" name="Text 17"/>
          <p:cNvSpPr/>
          <p:nvPr/>
        </p:nvSpPr>
        <p:spPr>
          <a:xfrm>
            <a:off x="3456432" y="1883664"/>
            <a:ext cx="22311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Static Campus ➔ Live GPS Launch</a:t>
            </a:r>
            <a:endParaRPr lang="en-US" sz="1150" dirty="0"/>
          </a:p>
        </p:txBody>
      </p:sp>
      <p:sp>
        <p:nvSpPr>
          <p:cNvPr id="20" name="Text 18"/>
          <p:cNvSpPr/>
          <p:nvPr/>
        </p:nvSpPr>
        <p:spPr>
          <a:xfrm>
            <a:off x="3456432" y="2176272"/>
            <a:ext cx="22311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Instant driver orientation</a:t>
            </a:r>
            <a:endParaRPr lang="en-US" sz="900" dirty="0"/>
          </a:p>
        </p:txBody>
      </p:sp>
      <p:sp>
        <p:nvSpPr>
          <p:cNvPr id="21" name="Text 19"/>
          <p:cNvSpPr/>
          <p:nvPr/>
        </p:nvSpPr>
        <p:spPr>
          <a:xfrm>
            <a:off x="3456432" y="2432304"/>
            <a:ext cx="2231136" cy="1956816"/>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Physical GPS Launch Default: Map automatically queries browser GPS on mount and centers smoothly at street zoom (16).</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Pulsing Radar Beacon: Displays animated blue location beacon with GPS accuracy perimeter circle.</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Predominant Drive-Time Nav: Elevated Drive-Time Mapping right next to Map &amp; Hazards on desktop header, mobile bar, and map toolbar.</a:t>
            </a:r>
            <a:endParaRPr lang="en-US" sz="850" dirty="0"/>
          </a:p>
        </p:txBody>
      </p:sp>
      <p:sp>
        <p:nvSpPr>
          <p:cNvPr id="22" name="Shape 20"/>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3" name="Shape 21"/>
          <p:cNvSpPr/>
          <p:nvPr/>
        </p:nvSpPr>
        <p:spPr>
          <a:xfrm>
            <a:off x="6080760" y="1508760"/>
            <a:ext cx="2468880" cy="54864"/>
          </a:xfrm>
          <a:prstGeom prst="roundRect">
            <a:avLst>
              <a:gd name="adj" fmla="val 50000"/>
            </a:avLst>
          </a:prstGeom>
          <a:solidFill>
            <a:srgbClr val="C4A35A"/>
          </a:solidFill>
          <a:ln/>
        </p:spPr>
      </p:sp>
      <p:sp>
        <p:nvSpPr>
          <p:cNvPr id="24" name="Shape 22"/>
          <p:cNvSpPr/>
          <p:nvPr/>
        </p:nvSpPr>
        <p:spPr>
          <a:xfrm>
            <a:off x="6199632" y="1627632"/>
            <a:ext cx="1645920" cy="201168"/>
          </a:xfrm>
          <a:prstGeom prst="roundRect">
            <a:avLst>
              <a:gd name="adj" fmla="val 36364"/>
            </a:avLst>
          </a:prstGeom>
          <a:solidFill>
            <a:srgbClr val="0F172A"/>
          </a:solidFill>
          <a:ln w="10160">
            <a:solidFill>
              <a:srgbClr val="C4A35A"/>
            </a:solidFill>
            <a:prstDash val="solid"/>
          </a:ln>
        </p:spPr>
      </p:sp>
      <p:sp>
        <p:nvSpPr>
          <p:cNvPr id="25" name="Text 23"/>
          <p:cNvSpPr/>
          <p:nvPr/>
        </p:nvSpPr>
        <p:spPr>
          <a:xfrm>
            <a:off x="6199632" y="1627632"/>
            <a:ext cx="1645920" cy="201168"/>
          </a:xfrm>
          <a:prstGeom prst="rect">
            <a:avLst/>
          </a:prstGeom>
          <a:noFill/>
          <a:ln/>
        </p:spPr>
        <p:txBody>
          <a:bodyPr wrap="square" rtlCol="0" anchor="ctr"/>
          <a:lstStyle/>
          <a:p>
            <a:pPr algn="ctr" indent="0" marL="0">
              <a:buNone/>
            </a:pPr>
            <a:r>
              <a:rPr lang="en-US" sz="750" b="1" dirty="0">
                <a:solidFill>
                  <a:srgbClr val="C4A35A"/>
                </a:solidFill>
                <a:latin typeface="Comic Sans MS" pitchFamily="34" charset="0"/>
                <a:ea typeface="Comic Sans MS" pitchFamily="34" charset="-122"/>
                <a:cs typeface="Comic Sans MS" pitchFamily="34" charset="-120"/>
              </a:rPr>
              <a:t>VISUAL REFINEMENT</a:t>
            </a:r>
            <a:endParaRPr lang="en-US" sz="750" dirty="0"/>
          </a:p>
        </p:txBody>
      </p:sp>
      <p:sp>
        <p:nvSpPr>
          <p:cNvPr id="26" name="Text 24"/>
          <p:cNvSpPr/>
          <p:nvPr/>
        </p:nvSpPr>
        <p:spPr>
          <a:xfrm>
            <a:off x="6199632" y="1883664"/>
            <a:ext cx="22311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Hardware Bench &amp; Usability</a:t>
            </a:r>
            <a:endParaRPr lang="en-US" sz="1150" dirty="0"/>
          </a:p>
        </p:txBody>
      </p:sp>
      <p:sp>
        <p:nvSpPr>
          <p:cNvPr id="27" name="Text 25"/>
          <p:cNvSpPr/>
          <p:nvPr/>
        </p:nvSpPr>
        <p:spPr>
          <a:xfrm>
            <a:off x="6199632" y="2176272"/>
            <a:ext cx="22311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Streamlined civic engineering</a:t>
            </a:r>
            <a:endParaRPr lang="en-US" sz="900" dirty="0"/>
          </a:p>
        </p:txBody>
      </p:sp>
      <p:sp>
        <p:nvSpPr>
          <p:cNvPr id="28" name="Text 26"/>
          <p:cNvSpPr/>
          <p:nvPr/>
        </p:nvSpPr>
        <p:spPr>
          <a:xfrm>
            <a:off x="6199632" y="2432304"/>
            <a:ext cx="2231136" cy="1956816"/>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60fps Oscilloscope Waveform: Restored live physical waveform with self-contained mounting lifecycle and 7.5G capstone demo trigger.</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Decluttered Bench Header: Standardized to "Hardware Sensor Monitor", removing vendor-specific text.</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Universal Design: Dyslexia-friendly Comic Sans MS, Okabe-Ito colorblind palette, and Southern-cadence voice synthesis.</a:t>
            </a:r>
            <a:endParaRPr lang="en-US" sz="850" dirty="0"/>
          </a:p>
        </p:txBody>
      </p:sp>
      <p:sp>
        <p:nvSpPr>
          <p:cNvPr id="29" name="Shape 27"/>
          <p:cNvSpPr/>
          <p:nvPr/>
        </p:nvSpPr>
        <p:spPr>
          <a:xfrm>
            <a:off x="548640" y="4709160"/>
            <a:ext cx="8046720" cy="0"/>
          </a:xfrm>
          <a:prstGeom prst="line">
            <a:avLst/>
          </a:prstGeom>
          <a:noFill/>
          <a:ln w="10160">
            <a:solidFill>
              <a:srgbClr val="1E293B"/>
            </a:solidFill>
            <a:prstDash val="solid"/>
          </a:ln>
        </p:spPr>
      </p:sp>
      <p:sp>
        <p:nvSpPr>
          <p:cNvPr id="30" name="Text 28"/>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Official Civic Press Release • Senior Capstone ITEC 4860</a:t>
            </a:r>
            <a:endParaRPr lang="en-US" sz="800" dirty="0"/>
          </a:p>
        </p:txBody>
      </p:sp>
      <p:sp>
        <p:nvSpPr>
          <p:cNvPr id="31" name="Text 29"/>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C4A35A"/>
                </a:solidFill>
                <a:latin typeface="Comic Sans MS" pitchFamily="34" charset="0"/>
                <a:ea typeface="Comic Sans MS" pitchFamily="34" charset="-122"/>
                <a:cs typeface="Comic Sans MS" pitchFamily="34" charset="-120"/>
              </a:rPr>
              <a:t>Slide 2 of 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E1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6747"/>
          </a:solidFill>
          <a:ln/>
        </p:spPr>
      </p:sp>
      <p:sp>
        <p:nvSpPr>
          <p:cNvPr id="3" name="Shape 1"/>
          <p:cNvSpPr/>
          <p:nvPr/>
        </p:nvSpPr>
        <p:spPr>
          <a:xfrm>
            <a:off x="0" y="91440"/>
            <a:ext cx="9144000" cy="36576"/>
          </a:xfrm>
          <a:prstGeom prst="rect">
            <a:avLst/>
          </a:prstGeom>
          <a:solidFill>
            <a:srgbClr val="C4A35A"/>
          </a:solidFill>
          <a:ln/>
        </p:spPr>
      </p:sp>
      <p:sp>
        <p:nvSpPr>
          <p:cNvPr id="4" name="Shape 2"/>
          <p:cNvSpPr/>
          <p:nvPr/>
        </p:nvSpPr>
        <p:spPr>
          <a:xfrm>
            <a:off x="548640" y="365760"/>
            <a:ext cx="2560320" cy="256032"/>
          </a:xfrm>
          <a:prstGeom prst="roundRect">
            <a:avLst>
              <a:gd name="adj" fmla="val 50000"/>
            </a:avLst>
          </a:prstGeom>
          <a:solidFill>
            <a:srgbClr val="1E293B"/>
          </a:solidFill>
          <a:ln w="12700">
            <a:solidFill>
              <a:srgbClr val="14B8A6"/>
            </a:solidFill>
            <a:prstDash val="solid"/>
          </a:ln>
        </p:spPr>
      </p:sp>
      <p:sp>
        <p:nvSpPr>
          <p:cNvPr id="5" name="Text 3"/>
          <p:cNvSpPr/>
          <p:nvPr/>
        </p:nvSpPr>
        <p:spPr>
          <a:xfrm>
            <a:off x="548640" y="365760"/>
            <a:ext cx="2560320" cy="256032"/>
          </a:xfrm>
          <a:prstGeom prst="rect">
            <a:avLst/>
          </a:prstGeom>
          <a:noFill/>
          <a:ln/>
        </p:spPr>
        <p:txBody>
          <a:bodyPr wrap="square" rtlCol="0" anchor="ctr"/>
          <a:lstStyle/>
          <a:p>
            <a:pPr algn="ctr" indent="0" marL="0">
              <a:buNone/>
            </a:pPr>
            <a:r>
              <a:rPr lang="en-US" sz="850" b="1" dirty="0">
                <a:solidFill>
                  <a:srgbClr val="14B8A6"/>
                </a:solidFill>
                <a:latin typeface="Comic Sans MS" pitchFamily="34" charset="0"/>
                <a:ea typeface="Comic Sans MS" pitchFamily="34" charset="-122"/>
                <a:cs typeface="Comic Sans MS" pitchFamily="34" charset="-120"/>
              </a:rPr>
              <a:t>CIVIC IMPACT &amp; USER VALUE</a:t>
            </a:r>
            <a:endParaRPr lang="en-US" sz="850" dirty="0"/>
          </a:p>
        </p:txBody>
      </p:sp>
      <p:sp>
        <p:nvSpPr>
          <p:cNvPr id="6" name="Text 4"/>
          <p:cNvSpPr/>
          <p:nvPr/>
        </p:nvSpPr>
        <p:spPr>
          <a:xfrm>
            <a:off x="548640" y="685800"/>
            <a:ext cx="8046720" cy="384048"/>
          </a:xfrm>
          <a:prstGeom prst="rect">
            <a:avLst/>
          </a:prstGeom>
          <a:noFill/>
          <a:ln/>
        </p:spPr>
        <p:txBody>
          <a:bodyPr wrap="square" rtlCol="0" anchor="ctr"/>
          <a:lstStyle/>
          <a:p>
            <a:pPr indent="0" marL="0">
              <a:buNone/>
            </a:pPr>
            <a:r>
              <a:rPr lang="en-US" sz="1800" b="1" dirty="0">
                <a:solidFill>
                  <a:srgbClr val="FFFFFF"/>
                </a:solidFill>
                <a:latin typeface="Comic Sans MS" pitchFamily="34" charset="0"/>
                <a:ea typeface="Comic Sans MS" pitchFamily="34" charset="-122"/>
                <a:cs typeface="Comic Sans MS" pitchFamily="34" charset="-120"/>
              </a:rPr>
              <a:t>Uncompromising Safety, Accessibility &amp; Municipal Value</a:t>
            </a:r>
            <a:endParaRPr lang="en-US" sz="1800" dirty="0"/>
          </a:p>
        </p:txBody>
      </p:sp>
      <p:sp>
        <p:nvSpPr>
          <p:cNvPr id="7" name="Text 5"/>
          <p:cNvSpPr/>
          <p:nvPr/>
        </p:nvSpPr>
        <p:spPr>
          <a:xfrm>
            <a:off x="548640" y="1078992"/>
            <a:ext cx="8046720" cy="274320"/>
          </a:xfrm>
          <a:prstGeom prst="rect">
            <a:avLst/>
          </a:prstGeom>
          <a:noFill/>
          <a:ln/>
        </p:spPr>
        <p:txBody>
          <a:bodyPr wrap="square" rtlCol="0" anchor="ctr"/>
          <a:lstStyle/>
          <a:p>
            <a:pPr indent="0" marL="0">
              <a:buNone/>
            </a:pPr>
            <a:r>
              <a:rPr lang="en-US" sz="1100" dirty="0">
                <a:solidFill>
                  <a:srgbClr val="94A3B8"/>
                </a:solidFill>
                <a:latin typeface="Comic Sans MS" pitchFamily="34" charset="0"/>
                <a:ea typeface="Comic Sans MS" pitchFamily="34" charset="-122"/>
                <a:cs typeface="Comic Sans MS" pitchFamily="34" charset="-120"/>
              </a:rPr>
              <a:t>How GGC SansPotholes delivers tangible, real-world benefits to students, commuters, and city crews.</a:t>
            </a:r>
            <a:endParaRPr lang="en-US" sz="1100" dirty="0"/>
          </a:p>
        </p:txBody>
      </p:sp>
      <p:sp>
        <p:nvSpPr>
          <p:cNvPr id="8" name="Shape 6"/>
          <p:cNvSpPr/>
          <p:nvPr/>
        </p:nvSpPr>
        <p:spPr>
          <a:xfrm>
            <a:off x="548640" y="1463040"/>
            <a:ext cx="2560320" cy="3063240"/>
          </a:xfrm>
          <a:prstGeom prst="roundRect">
            <a:avLst>
              <a:gd name="adj" fmla="val 4286"/>
            </a:avLst>
          </a:prstGeom>
          <a:solidFill>
            <a:srgbClr val="141E33"/>
          </a:solidFill>
          <a:ln w="12700">
            <a:solidFill>
              <a:srgbClr val="233352"/>
            </a:solidFill>
            <a:prstDash val="solid"/>
          </a:ln>
        </p:spPr>
      </p:sp>
      <p:sp>
        <p:nvSpPr>
          <p:cNvPr id="9" name="Shape 7"/>
          <p:cNvSpPr/>
          <p:nvPr/>
        </p:nvSpPr>
        <p:spPr>
          <a:xfrm>
            <a:off x="594360" y="1508760"/>
            <a:ext cx="2468880" cy="54864"/>
          </a:xfrm>
          <a:prstGeom prst="roundRect">
            <a:avLst>
              <a:gd name="adj" fmla="val 50000"/>
            </a:avLst>
          </a:prstGeom>
          <a:solidFill>
            <a:srgbClr val="10B981"/>
          </a:solidFill>
          <a:ln/>
        </p:spPr>
      </p:sp>
      <p:sp>
        <p:nvSpPr>
          <p:cNvPr id="10" name="Shape 8"/>
          <p:cNvSpPr/>
          <p:nvPr/>
        </p:nvSpPr>
        <p:spPr>
          <a:xfrm>
            <a:off x="713232" y="1627632"/>
            <a:ext cx="1645920" cy="201168"/>
          </a:xfrm>
          <a:prstGeom prst="roundRect">
            <a:avLst>
              <a:gd name="adj" fmla="val 36364"/>
            </a:avLst>
          </a:prstGeom>
          <a:solidFill>
            <a:srgbClr val="0F172A"/>
          </a:solidFill>
          <a:ln w="10160">
            <a:solidFill>
              <a:srgbClr val="10B981"/>
            </a:solidFill>
            <a:prstDash val="solid"/>
          </a:ln>
        </p:spPr>
      </p:sp>
      <p:sp>
        <p:nvSpPr>
          <p:cNvPr id="11" name="Text 9"/>
          <p:cNvSpPr/>
          <p:nvPr/>
        </p:nvSpPr>
        <p:spPr>
          <a:xfrm>
            <a:off x="713232" y="1627632"/>
            <a:ext cx="1645920" cy="201168"/>
          </a:xfrm>
          <a:prstGeom prst="rect">
            <a:avLst/>
          </a:prstGeom>
          <a:noFill/>
          <a:ln/>
        </p:spPr>
        <p:txBody>
          <a:bodyPr wrap="square" rtlCol="0" anchor="ctr"/>
          <a:lstStyle/>
          <a:p>
            <a:pPr algn="ctr" indent="0" marL="0">
              <a:buNone/>
            </a:pPr>
            <a:r>
              <a:rPr lang="en-US" sz="750" b="1" dirty="0">
                <a:solidFill>
                  <a:srgbClr val="10B981"/>
                </a:solidFill>
                <a:latin typeface="Comic Sans MS" pitchFamily="34" charset="0"/>
                <a:ea typeface="Comic Sans MS" pitchFamily="34" charset="-122"/>
                <a:cs typeface="Comic Sans MS" pitchFamily="34" charset="-120"/>
              </a:rPr>
              <a:t>1. COMMUTER PROTECTION</a:t>
            </a:r>
            <a:endParaRPr lang="en-US" sz="750" dirty="0"/>
          </a:p>
        </p:txBody>
      </p:sp>
      <p:sp>
        <p:nvSpPr>
          <p:cNvPr id="12" name="Text 10"/>
          <p:cNvSpPr/>
          <p:nvPr/>
        </p:nvSpPr>
        <p:spPr>
          <a:xfrm>
            <a:off x="713232" y="1883664"/>
            <a:ext cx="22311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Zero Distraction &amp; Savings</a:t>
            </a:r>
            <a:endParaRPr lang="en-US" sz="1150" dirty="0"/>
          </a:p>
        </p:txBody>
      </p:sp>
      <p:sp>
        <p:nvSpPr>
          <p:cNvPr id="13" name="Text 11"/>
          <p:cNvSpPr/>
          <p:nvPr/>
        </p:nvSpPr>
        <p:spPr>
          <a:xfrm>
            <a:off x="713232" y="2176272"/>
            <a:ext cx="22311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Protecting lives and vehicles</a:t>
            </a:r>
            <a:endParaRPr lang="en-US" sz="900" dirty="0"/>
          </a:p>
        </p:txBody>
      </p:sp>
      <p:sp>
        <p:nvSpPr>
          <p:cNvPr id="14" name="Text 12"/>
          <p:cNvSpPr/>
          <p:nvPr/>
        </p:nvSpPr>
        <p:spPr>
          <a:xfrm>
            <a:off x="713232" y="2432304"/>
            <a:ext cx="2231136" cy="1956816"/>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Zero Distracted Driving: Complete elimination of in-drive manual reporting forms—mount, drive, and review upon arrival.</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Tire &amp; Suspension Preservation: Alerts student commuters to severe hazards across Lawrenceville and Gwinnett corridors.</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Financial Defense: Prevents hundreds of dollars in alignment and rim repair costs common to college commuters.</a:t>
            </a:r>
            <a:endParaRPr lang="en-US" sz="850" dirty="0"/>
          </a:p>
        </p:txBody>
      </p:sp>
      <p:sp>
        <p:nvSpPr>
          <p:cNvPr id="15" name="Shape 13"/>
          <p:cNvSpPr/>
          <p:nvPr/>
        </p:nvSpPr>
        <p:spPr>
          <a:xfrm>
            <a:off x="3291840" y="1463040"/>
            <a:ext cx="2560320" cy="3063240"/>
          </a:xfrm>
          <a:prstGeom prst="roundRect">
            <a:avLst>
              <a:gd name="adj" fmla="val 4286"/>
            </a:avLst>
          </a:prstGeom>
          <a:solidFill>
            <a:srgbClr val="141E33"/>
          </a:solidFill>
          <a:ln w="12700">
            <a:solidFill>
              <a:srgbClr val="233352"/>
            </a:solidFill>
            <a:prstDash val="solid"/>
          </a:ln>
        </p:spPr>
      </p:sp>
      <p:sp>
        <p:nvSpPr>
          <p:cNvPr id="16" name="Shape 14"/>
          <p:cNvSpPr/>
          <p:nvPr/>
        </p:nvSpPr>
        <p:spPr>
          <a:xfrm>
            <a:off x="3337560" y="1508760"/>
            <a:ext cx="2468880" cy="54864"/>
          </a:xfrm>
          <a:prstGeom prst="roundRect">
            <a:avLst>
              <a:gd name="adj" fmla="val 50000"/>
            </a:avLst>
          </a:prstGeom>
          <a:solidFill>
            <a:srgbClr val="14B8A6"/>
          </a:solidFill>
          <a:ln/>
        </p:spPr>
      </p:sp>
      <p:sp>
        <p:nvSpPr>
          <p:cNvPr id="17" name="Shape 15"/>
          <p:cNvSpPr/>
          <p:nvPr/>
        </p:nvSpPr>
        <p:spPr>
          <a:xfrm>
            <a:off x="3456432" y="1627632"/>
            <a:ext cx="1645920" cy="201168"/>
          </a:xfrm>
          <a:prstGeom prst="roundRect">
            <a:avLst>
              <a:gd name="adj" fmla="val 36364"/>
            </a:avLst>
          </a:prstGeom>
          <a:solidFill>
            <a:srgbClr val="0F172A"/>
          </a:solidFill>
          <a:ln w="10160">
            <a:solidFill>
              <a:srgbClr val="14B8A6"/>
            </a:solidFill>
            <a:prstDash val="solid"/>
          </a:ln>
        </p:spPr>
      </p:sp>
      <p:sp>
        <p:nvSpPr>
          <p:cNvPr id="18" name="Text 16"/>
          <p:cNvSpPr/>
          <p:nvPr/>
        </p:nvSpPr>
        <p:spPr>
          <a:xfrm>
            <a:off x="3456432" y="1627632"/>
            <a:ext cx="1645920" cy="201168"/>
          </a:xfrm>
          <a:prstGeom prst="rect">
            <a:avLst/>
          </a:prstGeom>
          <a:noFill/>
          <a:ln/>
        </p:spPr>
        <p:txBody>
          <a:bodyPr wrap="square" rtlCol="0" anchor="ctr"/>
          <a:lstStyle/>
          <a:p>
            <a:pPr algn="ctr" indent="0" marL="0">
              <a:buNone/>
            </a:pPr>
            <a:r>
              <a:rPr lang="en-US" sz="750" b="1" dirty="0">
                <a:solidFill>
                  <a:srgbClr val="14B8A6"/>
                </a:solidFill>
                <a:latin typeface="Comic Sans MS" pitchFamily="34" charset="0"/>
                <a:ea typeface="Comic Sans MS" pitchFamily="34" charset="-122"/>
                <a:cs typeface="Comic Sans MS" pitchFamily="34" charset="-120"/>
              </a:rPr>
              <a:t>2. INCLUSIVE ENGINEERING</a:t>
            </a:r>
            <a:endParaRPr lang="en-US" sz="750" dirty="0"/>
          </a:p>
        </p:txBody>
      </p:sp>
      <p:sp>
        <p:nvSpPr>
          <p:cNvPr id="19" name="Text 17"/>
          <p:cNvSpPr/>
          <p:nvPr/>
        </p:nvSpPr>
        <p:spPr>
          <a:xfrm>
            <a:off x="3456432" y="1883664"/>
            <a:ext cx="22311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Universal Accessibility</a:t>
            </a:r>
            <a:endParaRPr lang="en-US" sz="1150" dirty="0"/>
          </a:p>
        </p:txBody>
      </p:sp>
      <p:sp>
        <p:nvSpPr>
          <p:cNvPr id="20" name="Text 18"/>
          <p:cNvSpPr/>
          <p:nvPr/>
        </p:nvSpPr>
        <p:spPr>
          <a:xfrm>
            <a:off x="3456432" y="2176272"/>
            <a:ext cx="22311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Serving 100% of Gwinnett citizens</a:t>
            </a:r>
            <a:endParaRPr lang="en-US" sz="900" dirty="0"/>
          </a:p>
        </p:txBody>
      </p:sp>
      <p:sp>
        <p:nvSpPr>
          <p:cNvPr id="21" name="Text 19"/>
          <p:cNvSpPr/>
          <p:nvPr/>
        </p:nvSpPr>
        <p:spPr>
          <a:xfrm>
            <a:off x="3456432" y="2432304"/>
            <a:ext cx="2231136" cy="1956816"/>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Dyslexia-Friendly Comic Sans MS: Proven asymmetrical letterforms prevent symbol flipping and enhance legibility.</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Okabe-Ito Colorblind Safety: High-contrast Vermilion, Sky Blue, and Bluish Green paired with dual-coded geometric glyphs (▲, ◆, ●).</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Hands-Free Voice Synthesis: Southern-cadence voice assistant reads hazard alerts aloud so drivers keep their eyes on the road.</a:t>
            </a:r>
            <a:endParaRPr lang="en-US" sz="850" dirty="0"/>
          </a:p>
        </p:txBody>
      </p:sp>
      <p:sp>
        <p:nvSpPr>
          <p:cNvPr id="22" name="Shape 20"/>
          <p:cNvSpPr/>
          <p:nvPr/>
        </p:nvSpPr>
        <p:spPr>
          <a:xfrm>
            <a:off x="6035040" y="1463040"/>
            <a:ext cx="2560320" cy="3063240"/>
          </a:xfrm>
          <a:prstGeom prst="roundRect">
            <a:avLst>
              <a:gd name="adj" fmla="val 4286"/>
            </a:avLst>
          </a:prstGeom>
          <a:solidFill>
            <a:srgbClr val="141E33"/>
          </a:solidFill>
          <a:ln w="12700">
            <a:solidFill>
              <a:srgbClr val="233352"/>
            </a:solidFill>
            <a:prstDash val="solid"/>
          </a:ln>
        </p:spPr>
      </p:sp>
      <p:sp>
        <p:nvSpPr>
          <p:cNvPr id="23" name="Shape 21"/>
          <p:cNvSpPr/>
          <p:nvPr/>
        </p:nvSpPr>
        <p:spPr>
          <a:xfrm>
            <a:off x="6080760" y="1508760"/>
            <a:ext cx="2468880" cy="54864"/>
          </a:xfrm>
          <a:prstGeom prst="roundRect">
            <a:avLst>
              <a:gd name="adj" fmla="val 50000"/>
            </a:avLst>
          </a:prstGeom>
          <a:solidFill>
            <a:srgbClr val="C4A35A"/>
          </a:solidFill>
          <a:ln/>
        </p:spPr>
      </p:sp>
      <p:sp>
        <p:nvSpPr>
          <p:cNvPr id="24" name="Shape 22"/>
          <p:cNvSpPr/>
          <p:nvPr/>
        </p:nvSpPr>
        <p:spPr>
          <a:xfrm>
            <a:off x="6199632" y="1627632"/>
            <a:ext cx="1645920" cy="201168"/>
          </a:xfrm>
          <a:prstGeom prst="roundRect">
            <a:avLst>
              <a:gd name="adj" fmla="val 36364"/>
            </a:avLst>
          </a:prstGeom>
          <a:solidFill>
            <a:srgbClr val="0F172A"/>
          </a:solidFill>
          <a:ln w="10160">
            <a:solidFill>
              <a:srgbClr val="C4A35A"/>
            </a:solidFill>
            <a:prstDash val="solid"/>
          </a:ln>
        </p:spPr>
      </p:sp>
      <p:sp>
        <p:nvSpPr>
          <p:cNvPr id="25" name="Text 23"/>
          <p:cNvSpPr/>
          <p:nvPr/>
        </p:nvSpPr>
        <p:spPr>
          <a:xfrm>
            <a:off x="6199632" y="1627632"/>
            <a:ext cx="1645920" cy="201168"/>
          </a:xfrm>
          <a:prstGeom prst="rect">
            <a:avLst/>
          </a:prstGeom>
          <a:noFill/>
          <a:ln/>
        </p:spPr>
        <p:txBody>
          <a:bodyPr wrap="square" rtlCol="0" anchor="ctr"/>
          <a:lstStyle/>
          <a:p>
            <a:pPr algn="ctr" indent="0" marL="0">
              <a:buNone/>
            </a:pPr>
            <a:r>
              <a:rPr lang="en-US" sz="750" b="1" dirty="0">
                <a:solidFill>
                  <a:srgbClr val="C4A35A"/>
                </a:solidFill>
                <a:latin typeface="Comic Sans MS" pitchFamily="34" charset="0"/>
                <a:ea typeface="Comic Sans MS" pitchFamily="34" charset="-122"/>
                <a:cs typeface="Comic Sans MS" pitchFamily="34" charset="-120"/>
              </a:rPr>
              <a:t>3. MUNICIPAL ACTION</a:t>
            </a:r>
            <a:endParaRPr lang="en-US" sz="750" dirty="0"/>
          </a:p>
        </p:txBody>
      </p:sp>
      <p:sp>
        <p:nvSpPr>
          <p:cNvPr id="26" name="Text 24"/>
          <p:cNvSpPr/>
          <p:nvPr/>
        </p:nvSpPr>
        <p:spPr>
          <a:xfrm>
            <a:off x="6199632" y="1883664"/>
            <a:ext cx="2231136" cy="274320"/>
          </a:xfrm>
          <a:prstGeom prst="rect">
            <a:avLst/>
          </a:prstGeom>
          <a:noFill/>
          <a:ln/>
        </p:spPr>
        <p:txBody>
          <a:bodyPr wrap="square" rtlCol="0" anchor="ctr"/>
          <a:lstStyle/>
          <a:p>
            <a:pPr indent="0" marL="0">
              <a:buNone/>
            </a:pPr>
            <a:r>
              <a:rPr lang="en-US" sz="1150" b="1" dirty="0">
                <a:solidFill>
                  <a:srgbClr val="FFFFFF"/>
                </a:solidFill>
                <a:latin typeface="Comic Sans MS" pitchFamily="34" charset="0"/>
                <a:ea typeface="Comic Sans MS" pitchFamily="34" charset="-122"/>
                <a:cs typeface="Comic Sans MS" pitchFamily="34" charset="-120"/>
              </a:rPr>
              <a:t>Actionable Public Works</a:t>
            </a:r>
            <a:endParaRPr lang="en-US" sz="1150" dirty="0"/>
          </a:p>
        </p:txBody>
      </p:sp>
      <p:sp>
        <p:nvSpPr>
          <p:cNvPr id="27" name="Text 25"/>
          <p:cNvSpPr/>
          <p:nvPr/>
        </p:nvSpPr>
        <p:spPr>
          <a:xfrm>
            <a:off x="6199632" y="2176272"/>
            <a:ext cx="2231136" cy="219456"/>
          </a:xfrm>
          <a:prstGeom prst="rect">
            <a:avLst/>
          </a:prstGeom>
          <a:noFill/>
          <a:ln/>
        </p:spPr>
        <p:txBody>
          <a:bodyPr wrap="square" rtlCol="0" anchor="ctr"/>
          <a:lstStyle/>
          <a:p>
            <a:pPr indent="0" marL="0">
              <a:buNone/>
            </a:pPr>
            <a:r>
              <a:rPr lang="en-US" sz="900" dirty="0">
                <a:solidFill>
                  <a:srgbClr val="94A3B8"/>
                </a:solidFill>
                <a:latin typeface="Comic Sans MS" pitchFamily="34" charset="0"/>
                <a:ea typeface="Comic Sans MS" pitchFamily="34" charset="-122"/>
                <a:cs typeface="Comic Sans MS" pitchFamily="34" charset="-120"/>
              </a:rPr>
              <a:t>Direct pipeline to city maintenance</a:t>
            </a:r>
            <a:endParaRPr lang="en-US" sz="900" dirty="0"/>
          </a:p>
        </p:txBody>
      </p:sp>
      <p:sp>
        <p:nvSpPr>
          <p:cNvPr id="28" name="Text 26"/>
          <p:cNvSpPr/>
          <p:nvPr/>
        </p:nvSpPr>
        <p:spPr>
          <a:xfrm>
            <a:off x="6199632" y="2432304"/>
            <a:ext cx="2231136" cy="1956816"/>
          </a:xfrm>
          <a:prstGeom prst="rect">
            <a:avLst/>
          </a:prstGeom>
          <a:noFill/>
          <a:ln/>
        </p:spPr>
        <p:txBody>
          <a:bodyPr wrap="square" rtlCol="0" anchor="t"/>
          <a:lstStyle/>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Empirical Chain of Custody: Supplies public works departments with verified G-forces, exact GPS, and map images.</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Turnkey PDF Work Orders: Clean, single-page printable dockets with supervisor signoff blocks for immediate crew dispatch.</a:t>
            </a:r>
            <a:endParaRPr lang="en-US" sz="850" dirty="0"/>
          </a:p>
          <a:p>
            <a:pPr marL="342900" indent="-342900">
              <a:spcAft>
                <a:spcPts val="400"/>
              </a:spcAft>
              <a:buSzPct val="100000"/>
              <a:buChar char="•"/>
            </a:pPr>
            <a:r>
              <a:rPr lang="en-US" sz="850" dirty="0">
                <a:solidFill>
                  <a:srgbClr val="FFFFFF"/>
                </a:solidFill>
                <a:latin typeface="Comic Sans MS" pitchFamily="34" charset="0"/>
                <a:ea typeface="Comic Sans MS" pitchFamily="34" charset="-122"/>
                <a:cs typeface="Comic Sans MS" pitchFamily="34" charset="-120"/>
              </a:rPr>
              <a:t>Automated Civic Routing: Correctly classifies jurisdictions (Gwinnett County DOT, City of Lawrenceville, GDOT).</a:t>
            </a:r>
            <a:endParaRPr lang="en-US" sz="850" dirty="0"/>
          </a:p>
        </p:txBody>
      </p:sp>
      <p:sp>
        <p:nvSpPr>
          <p:cNvPr id="29" name="Shape 27"/>
          <p:cNvSpPr/>
          <p:nvPr/>
        </p:nvSpPr>
        <p:spPr>
          <a:xfrm>
            <a:off x="548640" y="4709160"/>
            <a:ext cx="8046720" cy="0"/>
          </a:xfrm>
          <a:prstGeom prst="line">
            <a:avLst/>
          </a:prstGeom>
          <a:noFill/>
          <a:ln w="10160">
            <a:solidFill>
              <a:srgbClr val="1E293B"/>
            </a:solidFill>
            <a:prstDash val="solid"/>
          </a:ln>
        </p:spPr>
      </p:sp>
      <p:sp>
        <p:nvSpPr>
          <p:cNvPr id="30" name="Text 28"/>
          <p:cNvSpPr/>
          <p:nvPr/>
        </p:nvSpPr>
        <p:spPr>
          <a:xfrm>
            <a:off x="548640" y="4754880"/>
            <a:ext cx="6400800" cy="274320"/>
          </a:xfrm>
          <a:prstGeom prst="rect">
            <a:avLst/>
          </a:prstGeom>
          <a:noFill/>
          <a:ln/>
        </p:spPr>
        <p:txBody>
          <a:bodyPr wrap="square" rtlCol="0" anchor="ctr"/>
          <a:lstStyle/>
          <a:p>
            <a:pPr indent="0" marL="0">
              <a:buNone/>
            </a:pPr>
            <a:r>
              <a:rPr lang="en-US" sz="800" dirty="0">
                <a:solidFill>
                  <a:srgbClr val="64748B"/>
                </a:solidFill>
                <a:latin typeface="Comic Sans MS" pitchFamily="34" charset="0"/>
                <a:ea typeface="Comic Sans MS" pitchFamily="34" charset="-122"/>
                <a:cs typeface="Comic Sans MS" pitchFamily="34" charset="-120"/>
              </a:rPr>
              <a:t>GGC SansPotholes • Official Civic Press Release • Senior Capstone ITEC 4860</a:t>
            </a:r>
            <a:endParaRPr lang="en-US" sz="800" dirty="0"/>
          </a:p>
        </p:txBody>
      </p:sp>
      <p:sp>
        <p:nvSpPr>
          <p:cNvPr id="31" name="Text 29"/>
          <p:cNvSpPr/>
          <p:nvPr/>
        </p:nvSpPr>
        <p:spPr>
          <a:xfrm>
            <a:off x="7132320" y="4754880"/>
            <a:ext cx="1463040" cy="274320"/>
          </a:xfrm>
          <a:prstGeom prst="rect">
            <a:avLst/>
          </a:prstGeom>
          <a:noFill/>
          <a:ln/>
        </p:spPr>
        <p:txBody>
          <a:bodyPr wrap="square" rtlCol="0" anchor="ctr"/>
          <a:lstStyle/>
          <a:p>
            <a:pPr algn="r" indent="0" marL="0">
              <a:buNone/>
            </a:pPr>
            <a:r>
              <a:rPr lang="en-US" sz="800" dirty="0">
                <a:solidFill>
                  <a:srgbClr val="C4A35A"/>
                </a:solidFill>
                <a:latin typeface="Comic Sans MS" pitchFamily="34" charset="0"/>
                <a:ea typeface="Comic Sans MS" pitchFamily="34" charset="-122"/>
                <a:cs typeface="Comic Sans MS" pitchFamily="34" charset="-120"/>
              </a:rPr>
              <a:t>Slide 3 of 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Georgia Gwinnett College - ITEC 4860 Senior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GGC SansPotholes: Official Press Release &amp; Civic Innovation Showcase</dc:title>
  <dc:subject>GGC SansPotholes: Official 3-Slide Press Release</dc:subject>
  <dc:creator>Peyton Holland</dc:creator>
  <cp:lastModifiedBy>Peyton Holland</cp:lastModifiedBy>
  <cp:revision>1</cp:revision>
  <dcterms:created xsi:type="dcterms:W3CDTF">2026-10-20T19:38:04Z</dcterms:created>
  <dcterms:modified xsi:type="dcterms:W3CDTF">2026-10-20T19:38:04Z</dcterms:modified>
</cp:coreProperties>
</file>